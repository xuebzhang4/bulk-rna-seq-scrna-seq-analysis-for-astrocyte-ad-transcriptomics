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521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A1B1C"/>
                </a:solidFill>
                <a:latin typeface="Segoe UI"/>
              </a:rPr>
              <a:t>Astrocyte responses to Aβ pathology — analysis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521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1">
                <a:solidFill>
                  <a:srgbClr val="5F6670"/>
                </a:solidFill>
                <a:latin typeface="Segoe UI"/>
              </a:rPr>
              <a:t>One snRNA-seq dataset resolved into three nested astrocyte versions; two bulk RNA-seq experiments; one shared GSEA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27432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F6670"/>
                </a:solidFill>
                <a:latin typeface="Segoe UI"/>
              </a:rPr>
              <a:t>① 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61288"/>
            <a:ext cx="37216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16152"/>
            <a:ext cx="64008" cy="804672"/>
          </a:xfrm>
          <a:prstGeom prst="rect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25296"/>
            <a:ext cx="3502152" cy="8046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B1C"/>
                </a:solidFill>
                <a:latin typeface="Segoe UI"/>
              </a:rPr>
              <a:t>snRNA-seq · WT vs 5xFAD cortex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F6670"/>
                </a:solidFill>
                <a:latin typeface="Segoe UI"/>
              </a:rPr>
              <a:t>Saline arms only (APC arms excluded)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F6670"/>
                </a:solidFill>
                <a:latin typeface="Segoe UI"/>
              </a:rPr>
              <a:t>WT-saline vs 5xFAD-saline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4F6B9A"/>
                </a:solidFill>
                <a:latin typeface="Segoe UI"/>
              </a:rPr>
              <a:t>GEO: GSE227157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161288"/>
            <a:ext cx="37216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42816" y="1216152"/>
            <a:ext cx="64008" cy="804672"/>
          </a:xfrm>
          <a:prstGeom prst="rect">
            <a:avLst/>
          </a:prstGeom>
          <a:solidFill>
            <a:srgbClr val="35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225296"/>
            <a:ext cx="3502152" cy="8046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B1C"/>
                </a:solidFill>
                <a:latin typeface="Segoe UI"/>
              </a:rPr>
              <a:t>Bulk · primary astrocytes ± Aβ42 (48 h)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F6670"/>
                </a:solidFill>
                <a:latin typeface="Segoe UI"/>
              </a:rPr>
              <a:t>n=3 vs 3 — A_Beta_1–3 vs Astro_1–3 (untreated)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35705A"/>
                </a:solidFill>
                <a:latin typeface="Segoe UI"/>
              </a:rPr>
              <a:t>GEO: to be added (not yet deposited)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161288"/>
            <a:ext cx="37216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3" y="1216152"/>
            <a:ext cx="64008" cy="804672"/>
          </a:xfrm>
          <a:prstGeom prst="rect">
            <a:avLst/>
          </a:prstGeom>
          <a:solidFill>
            <a:srgbClr val="9A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225296"/>
            <a:ext cx="3502152" cy="8046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B1C"/>
                </a:solidFill>
                <a:latin typeface="Segoe UI"/>
              </a:rPr>
              <a:t>Bulk · Bmal1-KO vs WT astrocytes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F6670"/>
                </a:solidFill>
                <a:latin typeface="Segoe UI"/>
              </a:rPr>
              <a:t>n=3 vs 4 — Astro_BKO_1–3 vs Astro_WT_1–4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A6A2F"/>
                </a:solidFill>
                <a:latin typeface="Segoe UI"/>
              </a:rPr>
              <a:t>GEO: GSE325658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9320" y="2121408"/>
            <a:ext cx="201168" cy="14630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331720"/>
            <a:ext cx="7086600" cy="3310128"/>
          </a:xfrm>
          <a:prstGeom prst="roundRect">
            <a:avLst>
              <a:gd name="adj" fmla="val 3000"/>
            </a:avLst>
          </a:prstGeom>
          <a:solidFill>
            <a:srgbClr val="EDF2F8"/>
          </a:solidFill>
          <a:ln w="12700">
            <a:solidFill>
              <a:srgbClr val="CD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6766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F4D77"/>
                </a:solidFill>
                <a:latin typeface="Segoe UI"/>
              </a:rPr>
              <a:t>snRNA-seq  ·  WT vs 5xFAD — ambient-RNA correction is the core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51760"/>
            <a:ext cx="66294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A1B1C"/>
                </a:solidFill>
                <a:latin typeface="Segoe UI"/>
              </a:rPr>
              <a:t>QC · integration · clustering · annotation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F6670"/>
                </a:solidFill>
                <a:latin typeface="Segoe UI"/>
              </a:rPr>
              <a:t>Batch-aware CCA integration; marker annotation into major cell types; astrocytes = clusters 1 / 7 / 8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813048" y="3182112"/>
            <a:ext cx="164592" cy="109728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310128"/>
            <a:ext cx="662940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6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64992"/>
            <a:ext cx="64008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4F6B9A"/>
                </a:solidFill>
                <a:latin typeface="Segoe UI"/>
              </a:rPr>
              <a:t>★  THREE NESTED ASTROCYTE VERSIONS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39312"/>
            <a:ext cx="1938528" cy="603504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 w="12700">
            <a:solidFill>
              <a:srgbClr val="4F6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F4D77"/>
                </a:solidFill>
                <a:latin typeface="Segoe UI"/>
              </a:rPr>
              <a:t>V1 · Original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F6670"/>
                </a:solidFill>
                <a:latin typeface="Segoe UI"/>
              </a:rPr>
              <a:t>raw astrocytes, no correction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88336" y="3840480"/>
            <a:ext cx="146304" cy="182880"/>
          </a:xfrm>
          <a:prstGeom prst="rightArrow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62072" y="3639312"/>
            <a:ext cx="1938528" cy="603504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 w="12700">
            <a:solidFill>
              <a:srgbClr val="4F6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F4D77"/>
                </a:solidFill>
                <a:latin typeface="Segoe UI"/>
              </a:rPr>
              <a:t>V2 · DecontX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F6670"/>
                </a:solidFill>
                <a:latin typeface="Segoe UI"/>
              </a:rPr>
              <a:t>celda::decontX ambient-RNA removal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18888" y="3840480"/>
            <a:ext cx="146304" cy="182880"/>
          </a:xfrm>
          <a:prstGeom prst="rightArrow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2624" y="3639312"/>
            <a:ext cx="1938528" cy="603504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 w="12700">
            <a:solidFill>
              <a:srgbClr val="4F6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F4D77"/>
                </a:solidFill>
                <a:latin typeface="Segoe UI"/>
              </a:rPr>
              <a:t>V3 · DecontX-Micro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F6670"/>
                </a:solidFill>
                <a:latin typeface="Segoe UI"/>
              </a:rPr>
              <a:t>drop top 10% microglia-score nuclei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61104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1">
                <a:solidFill>
                  <a:srgbClr val="5F6670"/>
                </a:solidFill>
                <a:latin typeface="Segoe UI"/>
              </a:rPr>
              <a:t>Same astrocyte clusters throughout; microglial signal removed step by step.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813048" y="4498848"/>
            <a:ext cx="164592" cy="91440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590288"/>
            <a:ext cx="66294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B1C"/>
                </a:solidFill>
                <a:latin typeface="Segoe UI"/>
              </a:rPr>
              <a:t>DE (FAD vs WT) + GSEA (GO-BP), identical engine ×3   —   padj&lt;0.05 &amp; |NES|≥1.5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4F6B9A"/>
                </a:solidFill>
                <a:latin typeface="Segoe UI"/>
              </a:rPr>
              <a:t>V1 = 353     V2 = 156     V3 = 87 significant GO-BP terms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813048" y="5120640"/>
            <a:ext cx="164592" cy="91440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5230368"/>
            <a:ext cx="66294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A1B1C"/>
                </a:solidFill>
                <a:latin typeface="Segoe UI"/>
              </a:rPr>
              <a:t>10 functional groups · leading-edge genes — align versions by GO ID and NES direction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2331720"/>
            <a:ext cx="4251960" cy="3310128"/>
          </a:xfrm>
          <a:prstGeom prst="roundRect">
            <a:avLst>
              <a:gd name="adj" fmla="val 3000"/>
            </a:avLst>
          </a:prstGeom>
          <a:solidFill>
            <a:srgbClr val="F7F7F5"/>
          </a:solidFill>
          <a:ln w="12700">
            <a:solidFill>
              <a:srgbClr val="E4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2377440"/>
            <a:ext cx="40233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3A3F47"/>
                </a:solidFill>
                <a:latin typeface="Segoe UI"/>
              </a:rPr>
              <a:t>Bulk ×2  ·  same GSEA framework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651760"/>
            <a:ext cx="3886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635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5705A"/>
                </a:solidFill>
                <a:latin typeface="Segoe UI"/>
              </a:rPr>
              <a:t>Aβ42 vs vehicle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F6670"/>
                </a:solidFill>
                <a:latin typeface="Segoe UI"/>
              </a:rPr>
              <a:t>primary astrocytes, n=3 vs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B1C"/>
                </a:solidFill>
                <a:latin typeface="Segoe UI"/>
              </a:rPr>
              <a:t>DESeq2 DE → gseGO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35705A"/>
                </a:solidFill>
                <a:latin typeface="Segoe UI"/>
              </a:rPr>
              <a:t>911 GO-BP terms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90688" y="2706624"/>
            <a:ext cx="64008" cy="1078992"/>
          </a:xfrm>
          <a:prstGeom prst="rect">
            <a:avLst/>
          </a:prstGeom>
          <a:solidFill>
            <a:srgbClr val="35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wn Arrow 34"/>
          <p:cNvSpPr/>
          <p:nvPr/>
        </p:nvSpPr>
        <p:spPr>
          <a:xfrm>
            <a:off x="9601200" y="3877056"/>
            <a:ext cx="164592" cy="109728"/>
          </a:xfrm>
          <a:prstGeom prst="downArrow">
            <a:avLst/>
          </a:prstGeom>
          <a:solidFill>
            <a:srgbClr val="A9B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0" y="4023360"/>
            <a:ext cx="3886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635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9A6A2F"/>
                </a:solidFill>
                <a:latin typeface="Segoe UI"/>
              </a:rPr>
              <a:t>BKO vs WT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F6670"/>
                </a:solidFill>
                <a:latin typeface="Segoe UI"/>
              </a:rPr>
              <a:t>prior project, n=3 vs 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B1C"/>
                </a:solidFill>
                <a:latin typeface="Segoe UI"/>
              </a:rPr>
              <a:t>DESeq2 DE → gseGO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A6A2F"/>
                </a:solidFill>
                <a:latin typeface="Segoe UI"/>
              </a:rPr>
              <a:t>308 GO-BP terms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0688" y="4078224"/>
            <a:ext cx="64008" cy="1078992"/>
          </a:xfrm>
          <a:prstGeom prst="rect">
            <a:avLst/>
          </a:prstGeom>
          <a:solidFill>
            <a:srgbClr val="9A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285232"/>
            <a:ext cx="39319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1">
                <a:solidFill>
                  <a:srgbClr val="5F6670"/>
                </a:solidFill>
                <a:latin typeface="Segoe UI"/>
              </a:rPr>
              <a:t>Bulk ranked by DESeq2 Wald statistic; snRNA by avg_log2FC — same GO-BP / grouping rules.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989320" y="5687568"/>
            <a:ext cx="201168" cy="14630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65760" y="5870448"/>
            <a:ext cx="11475720" cy="896112"/>
          </a:xfrm>
          <a:prstGeom prst="roundRect">
            <a:avLst>
              <a:gd name="adj" fmla="val 4000"/>
            </a:avLst>
          </a:prstGeom>
          <a:solidFill>
            <a:srgbClr val="43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916168"/>
            <a:ext cx="1106424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②  CROSS-DATASET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144768"/>
            <a:ext cx="1106424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D3D7E2"/>
                </a:solidFill>
                <a:latin typeface="Segoe UI"/>
              </a:rPr>
              <a:t>Match terms by GO ID  ·  compare NES direction  ·  shared leading-edge genes = overlap of core_enrichment  ·  per-dataset log2FC used for direction only (no cross-platform effect-size comparison)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64224"/>
            <a:ext cx="3657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Across the three snRNA versions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C9CEDB"/>
                </a:solidFill>
                <a:latin typeface="Segoe UI"/>
              </a:rPr>
              <a:t>immune enrichment 111→26→4; conserved metabolic / transport / cytoskeletal programs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6364224"/>
            <a:ext cx="3657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Aβ42 bulk × snRNA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C9CEDB"/>
                </a:solidFill>
                <a:latin typeface="Segoe UI"/>
              </a:rPr>
              <a:t>direct Aβ reproduces antigen/MHC activation and reduced sterol biosynthesis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6364224"/>
            <a:ext cx="3657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BKO × Aβ42 × V3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C9CEDB"/>
                </a:solidFill>
                <a:latin typeface="Segoe UI"/>
              </a:rPr>
              <a:t>BMAL1-associated (antigen) vs BMAL1-independent (sterol) responses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